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095500"/>
            <a:ext cx="854964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指标减负思路设计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一线指标负担的实质问题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3873550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614761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338448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根源分析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338448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后线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生产指标无成本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，甚至把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下发指标当成绩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026" y="2369790"/>
            <a:ext cx="3318123" cy="5634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各职能从自身视角不断生产指标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指标提出者不承担落地复杂度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1031825"/>
            <a:ext cx="3873550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22763" y="1031825"/>
            <a:ext cx="0" cy="2614761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0476" y="1475333"/>
            <a:ext cx="338448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本质探究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00476" y="1973759"/>
            <a:ext cx="338448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专业能力不够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，指标越来越数值化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0476" y="2369790"/>
            <a:ext cx="331812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只剩 What：目标是多少、排第几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被简化为“领导说了/上面要”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被机械标准化，替代一线判断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以至于形式上也出现了异化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1183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1183184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荣誉指标化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405509"/>
            <a:ext cx="8001000" cy="1183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5313" y="2405509"/>
            <a:ext cx="0" cy="1183184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026" y="2849017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项目指标化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001000" cy="4508599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84832" y="2084189"/>
            <a:ext cx="4974336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管理动作在变“充分”、“科学”，</a:t>
            </a:r>
            <a:endParaRPr lang="en-US" sz="2400" dirty="0"/>
          </a:p>
          <a:p>
            <a:pPr algn="ctr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但对</a:t>
            </a:r>
            <a:endParaRPr lang="en-US" sz="2400" dirty="0"/>
          </a:p>
          <a:p>
            <a:pPr algn="ctr" indent="0" marL="0">
              <a:lnSpc>
                <a:spcPts val="38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真实业务的指导价值</a:t>
            </a:r>
            <a:pPr algn="ctr" indent="0" marL="0">
              <a:lnSpc>
                <a:spcPts val="38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反而在下降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解题思路：短期治理升级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2187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21873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给“指标生产”增加摩擦，而不是给执行增加摩擦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4455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总部建立“指标门槛”，下达前先被“专业审查”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定义指标规范要求，提交前明确类型、目的、可行性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职能必须为指标质量负责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解题思路：长期专业建设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2187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218730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让一线有空间创新“方法”，让后线有能力提炼“方法论”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4455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建立以城市为基础打法来源的“共创共治”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让指标在下达后可以“被本地化”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指标是组织的公共资源，而非职能私产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落地方式：指标共建会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167759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055638"/>
            <a:ext cx="8001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3501" y="1333351"/>
            <a:ext cx="0" cy="304800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5502" y="1333351"/>
            <a:ext cx="7306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"在今年下指标之前，先组织一次指标共建会"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401" y="1765102"/>
            <a:ext cx="7493198" cy="5634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评审机制：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所有总部职能想下到城市的指标，必须先拿到会里统一评审/共创。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多方参与：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总部策略、业务，以及真正接收指标的城市业策、核心人员共同参与。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落地方式：指标规范硬要求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6147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614761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提交门槛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每个指标必须讲清楚：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026" y="2369790"/>
            <a:ext cx="7445573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结果指标 / 信号指标 / 约束指标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设计理念（Why/How/What 的完整表达）是什么？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整体指标结构想解决什么问题？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" y="3900488"/>
            <a:ext cx="8001000" cy="638175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4090987"/>
            <a:ext cx="777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只有在共创会上通过的指标，才进入年度正式考核体系。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动态机制：防止无序增长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01334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013347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柔性准入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不固定组织，后续若需新增或变更指标，需临时组建同样的共创审议。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026" y="2395240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300"/>
              </a:spcAft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旨在防止指标在执行过程中继续无序增长。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配套举措：指标分类与权责规范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FF9F9"/>
          </a:solidFill>
          <a:ln w="9525">
            <a:solidFill>
              <a:srgbClr val="FFE5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结果型指标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1525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“我们要什么结果”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1525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收入、利润、合同额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1525" y="2325439"/>
            <a:ext cx="2165300" cy="0"/>
          </a:xfrm>
          <a:prstGeom prst="line">
            <a:avLst/>
          </a:prstGeom>
          <a:noFill/>
          <a:ln w="9525">
            <a:solidFill>
              <a:srgbClr val="FF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525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总部定目标，城市核心考核，评价经营成效。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89250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FFCF5"/>
          </a:solidFill>
          <a:ln w="9525">
            <a:solidFill>
              <a:srgbClr val="FEF2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275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信号型指标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89275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“哪些事有助于结果”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89275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过程指标、诊断信号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89275" y="2325439"/>
            <a:ext cx="2165300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9275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不作为强制考核；总部做能力萃取，辅助一线反思。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07001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8F9FA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07026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约束型指标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7026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“哪些事绝对不准越界”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7026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安全、客诉、合规性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7026" y="2325439"/>
            <a:ext cx="21653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7026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只判断是否越线，不做排名；守住经营红线。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" y="3508325"/>
            <a:ext cx="8001000" cy="1157883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0469" y="3762226"/>
            <a:ext cx="764306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总部有“</a:t>
            </a:r>
            <a:pPr algn="ctr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目标定义权 + 约束设定权</a:t>
            </a:r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600" dirty="0"/>
          </a:p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一线有“</a:t>
            </a:r>
            <a:endParaRPr lang="en-US" sz="1600" dirty="0"/>
          </a:p>
          <a:p>
            <a:pPr algn="ctr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实现路径选择权 + 诊断解释权</a:t>
            </a:r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配套举措：城市实践与 COE 协同进化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3937099" cy="996702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036588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3837" y="1031825"/>
            <a:ext cx="0" cy="996702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2023765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5313" y="1031825"/>
            <a:ext cx="0" cy="996702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075" y="1307902"/>
            <a:ext cx="36985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核心定义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6075" y="1568202"/>
            <a:ext cx="3698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来自城市实践的</a:t>
            </a:r>
            <a:pPr algn="l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后验总结</a:t>
            </a:r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，而非总部先验设计。总部关注结果与红线，接受路径差异。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5550" y="1031825"/>
            <a:ext cx="3937099" cy="996702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35550" y="1036588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7886" y="1031825"/>
            <a:ext cx="0" cy="996702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5550" y="2023765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9362" y="1031825"/>
            <a:ext cx="0" cy="996702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0125" y="1307902"/>
            <a:ext cx="36985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防反噬 3 条边界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0125" y="1568202"/>
            <a:ext cx="3698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信号指标 ≠ KPI；② 总部信号 ≠ 强制使用；③ COE 只能沉淀不能反压。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" y="2219027"/>
            <a:ext cx="816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终极逻辑闭环：进化型管理系统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" y="2584103"/>
            <a:ext cx="8001000" cy="622102"/>
          </a:xfrm>
          <a:prstGeom prst="roundRect">
            <a:avLst>
              <a:gd name="adj" fmla="val 8166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0207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定结果/红线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41440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自选路径/信号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2672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多路径跑结果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23905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萃取有效 COE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15138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可选工具反哺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06371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自由组合进化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1490" y="3396704"/>
            <a:ext cx="8161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真正有价值的方法论，是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出来的，而不是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出来的。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配套举措：AI 管理提效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68276"/>
            <a:ext cx="8128099" cy="82912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968276"/>
            <a:ext cx="0" cy="829121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095226"/>
            <a:ext cx="78244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定位：不是“替人决策”，而是“降低判断成本”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051" y="1501527"/>
            <a:ext cx="782446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唯一角色：</a:t>
            </a:r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认知放大器 + 学习加速器</a:t>
            </a:r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。负责把复杂信息变成可判断的资产，判断权归人。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7950" y="1898898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4072" y="2009924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54822" y="2047875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8976" y="2125861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信号整理员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8976" y="2373511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数据海量、多维信号看不过来、一线解释成本极高。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8976" y="2530822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识别“异常模式”而非单指标，提供历史对比与结构分析。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8976" y="268813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输出：“类似异常历史上曾发生 6 次”，不给对错结论。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22750" y="1898898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18872" y="2009924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69622" y="2047875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33776" y="2125861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路径镜子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3776" y="2373511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难以判断路径有效性，横向学习难，动作回溯模糊。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33776" y="2530822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基于“动作-结果”做回放标记，识别核心贡献与无效忙碌。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3776" y="268813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定位：这是反思工具（Self-Reflection），非考核工具。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7950" y="3057971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04072" y="3168997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54822" y="3206948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总部侧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8976" y="3284934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抽练机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976" y="353258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城市路径不一，隐性成功经验难以被科学抽象和复用。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8976" y="3689896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输入结果与声明路径，抽练“共同特征”与适用条件。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976" y="3847207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价值：输出“在什么条件下，哪些路径较有效”，形成 COE。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2750" y="3057971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18872" y="3168997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69622" y="3206948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33776" y="3284934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判断记录仪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3776" y="353258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决策碎片化、事后难复盘，管理者判断力无法资产化。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3776" y="3689896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记录当下的信号环境与决策选择。下次情境类似时自动唤醒。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33776" y="3847207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价值：在潜移默化中“训练管理者”，而非替代其判断。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950" y="4217045"/>
            <a:ext cx="8128099" cy="314325"/>
          </a:xfrm>
          <a:prstGeom prst="roundRect">
            <a:avLst>
              <a:gd name="adj" fmla="val 16162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4393" y="4293245"/>
            <a:ext cx="8135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底线判断：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凡是让 AI 告诉人“该干什么”的都在削弱组织；凡是帮人“更好判断”的才是增强组织。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23694" y="1569541"/>
            <a:ext cx="48966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指标减负的实质，不是优化指标，而是优化结构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2681" y="2283916"/>
            <a:ext cx="5958638" cy="1518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</a:t>
            </a:r>
            <a:pPr algn="ctr" indent="0" marL="0">
              <a:lnSpc>
                <a:spcPts val="5980"/>
              </a:lnSpc>
              <a:buNone/>
            </a:pP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服务 </a:t>
            </a:r>
            <a:pPr algn="ctr" indent="0" marL="0">
              <a:lnSpc>
                <a:spcPts val="5980"/>
              </a:lnSpc>
              <a:buNone/>
            </a:pP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</a:t>
            </a:r>
            <a:pPr algn="ctr" indent="0" marL="0">
              <a:lnSpc>
                <a:spcPts val="5980"/>
              </a:lnSpc>
              <a:buNone/>
            </a:pPr>
            <a:endParaRPr lang="en-US" sz="4600" dirty="0"/>
          </a:p>
          <a:p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而不是让业务服务指标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2026-01-21T19:01:36Z</dcterms:created>
  <dcterms:modified xsi:type="dcterms:W3CDTF">2026-01-21T19:01:36Z</dcterms:modified>
</cp:coreProperties>
</file>