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6950" cy="5143500"/>
          </a:xfrm>
          <a:prstGeom prst="rect">
            <a:avLst/>
          </a:prstGeom>
          <a:solidFill>
            <a:srgbClr val="E337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71500" y="317450"/>
            <a:ext cx="816102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28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动态机制：防止无序增长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71500" y="1031825"/>
            <a:ext cx="8001000" cy="2013347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95313" y="1031825"/>
            <a:ext cx="0" cy="2013347"/>
          </a:xfrm>
          <a:prstGeom prst="line">
            <a:avLst/>
          </a:prstGeom>
          <a:noFill/>
          <a:ln w="47625">
            <a:solidFill>
              <a:srgbClr val="E337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3026" y="1475333"/>
            <a:ext cx="7594485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94"/>
              </a:spcBef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E33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柔性准入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73026" y="1973759"/>
            <a:ext cx="7594485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不固定组织，后续若需新增或变更指标，需临时组建同样的共创审议。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73026" y="2395240"/>
            <a:ext cx="7594485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1500"/>
              </a:spcBef>
              <a:spcAft>
                <a:spcPts val="1300"/>
              </a:spcAft>
              <a:buNone/>
            </a:pPr>
            <a:r>
              <a:rPr lang="en-US" sz="13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旨在防止指标在执行过程中继续无序增长。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6950" cy="5143500"/>
          </a:xfrm>
          <a:prstGeom prst="rect">
            <a:avLst/>
          </a:prstGeom>
          <a:solidFill>
            <a:srgbClr val="E337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71500" y="317450"/>
            <a:ext cx="816102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28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配套举措：指标分类与权责规范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71500" y="1031825"/>
            <a:ext cx="2565350" cy="2286000"/>
          </a:xfrm>
          <a:prstGeom prst="roundRect">
            <a:avLst>
              <a:gd name="adj" fmla="val 2222"/>
            </a:avLst>
          </a:prstGeom>
          <a:solidFill>
            <a:srgbClr val="FFF9F9"/>
          </a:solidFill>
          <a:ln w="9525">
            <a:solidFill>
              <a:srgbClr val="FFE5E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71525" y="1396901"/>
            <a:ext cx="220860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300"/>
              </a:spcBef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E33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结果型指标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1525" y="1761976"/>
            <a:ext cx="220860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“我们要什么结果”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1525" y="2057251"/>
            <a:ext cx="220860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典型：</a:t>
            </a:r>
            <a:pPr algn="l" indent="0" marL="0">
              <a:spcBef>
                <a:spcPts val="900"/>
              </a:spcBef>
              <a:spcAft>
                <a:spcPts val="400"/>
              </a:spcAft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收入、利润、合同额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71525" y="2325439"/>
            <a:ext cx="2165300" cy="0"/>
          </a:xfrm>
          <a:prstGeom prst="line">
            <a:avLst/>
          </a:prstGeom>
          <a:noFill/>
          <a:ln w="9525">
            <a:solidFill>
              <a:srgbClr val="FFCAC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1525" y="2546003"/>
            <a:ext cx="220860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总部定目标，城市核心考核，评价经营成效。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289250" y="1031825"/>
            <a:ext cx="2565350" cy="2286000"/>
          </a:xfrm>
          <a:prstGeom prst="roundRect">
            <a:avLst>
              <a:gd name="adj" fmla="val 2222"/>
            </a:avLst>
          </a:prstGeom>
          <a:solidFill>
            <a:srgbClr val="FFFCF5"/>
          </a:solidFill>
          <a:ln w="9525">
            <a:solidFill>
              <a:srgbClr val="FEF2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489275" y="1396901"/>
            <a:ext cx="220860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300"/>
              </a:spcBef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信号型指标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89275" y="1761976"/>
            <a:ext cx="220860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“哪些事有助于结果”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489275" y="2057251"/>
            <a:ext cx="220860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典型：</a:t>
            </a:r>
            <a:pPr algn="l" indent="0" marL="0">
              <a:spcBef>
                <a:spcPts val="900"/>
              </a:spcBef>
              <a:spcAft>
                <a:spcPts val="400"/>
              </a:spcAft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过程指标、诊断信号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489275" y="2325439"/>
            <a:ext cx="2165300" cy="0"/>
          </a:xfrm>
          <a:prstGeom prst="line">
            <a:avLst/>
          </a:prstGeom>
          <a:noFill/>
          <a:ln w="9525">
            <a:solidFill>
              <a:srgbClr val="FDE6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89275" y="2546003"/>
            <a:ext cx="220860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不作为强制考核；总部做能力萃取，辅助一线反思。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007001" y="1031825"/>
            <a:ext cx="2565350" cy="2286000"/>
          </a:xfrm>
          <a:prstGeom prst="roundRect">
            <a:avLst>
              <a:gd name="adj" fmla="val 2222"/>
            </a:avLst>
          </a:prstGeom>
          <a:solidFill>
            <a:srgbClr val="F8F9FA"/>
          </a:solidFill>
          <a:ln w="9525">
            <a:solidFill>
              <a:srgbClr val="E5E7E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207026" y="1396901"/>
            <a:ext cx="220860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300"/>
              </a:spcBef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约束型指标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07026" y="1761976"/>
            <a:ext cx="220860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“哪些事绝对不准越界”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207026" y="2057251"/>
            <a:ext cx="220860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典型：</a:t>
            </a:r>
            <a:pPr algn="l" indent="0" marL="0">
              <a:spcBef>
                <a:spcPts val="900"/>
              </a:spcBef>
              <a:spcAft>
                <a:spcPts val="400"/>
              </a:spcAft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安全、客诉、合规性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207026" y="2325439"/>
            <a:ext cx="2165300" cy="0"/>
          </a:xfrm>
          <a:prstGeom prst="line">
            <a:avLst/>
          </a:prstGeom>
          <a:noFill/>
          <a:ln w="9525">
            <a:solidFill>
              <a:srgbClr val="D1D5D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07026" y="2546003"/>
            <a:ext cx="220860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只判断是否越线，不做排名；守住经营红线。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71500" y="3508325"/>
            <a:ext cx="8001000" cy="1157883"/>
          </a:xfrm>
          <a:prstGeom prst="rect">
            <a:avLst/>
          </a:prstGeom>
          <a:solidFill>
            <a:srgbClr val="21212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750469" y="3762226"/>
            <a:ext cx="7643062" cy="650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6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总部有“</a:t>
            </a:r>
            <a:pPr algn="ctr" indent="0" marL="0">
              <a:lnSpc>
                <a:spcPts val="256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目标定义权 + 约束设定权</a:t>
            </a:r>
            <a:pPr algn="ctr" indent="0" marL="0">
              <a:lnSpc>
                <a:spcPts val="256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”</a:t>
            </a:r>
            <a:endParaRPr lang="en-US" sz="1600" dirty="0"/>
          </a:p>
          <a:p>
            <a:pPr algn="ctr" indent="0" marL="0">
              <a:lnSpc>
                <a:spcPts val="256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一线有“</a:t>
            </a:r>
            <a:endParaRPr lang="en-US" sz="1600" dirty="0"/>
          </a:p>
          <a:p>
            <a:pPr algn="ctr" indent="0" marL="0">
              <a:lnSpc>
                <a:spcPts val="256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实现路径选择权 + 诊断解释权</a:t>
            </a:r>
            <a:pPr algn="ctr" indent="0" marL="0">
              <a:lnSpc>
                <a:spcPts val="256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”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6950" cy="5143500"/>
          </a:xfrm>
          <a:prstGeom prst="rect">
            <a:avLst/>
          </a:prstGeom>
          <a:solidFill>
            <a:srgbClr val="E337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71500" y="317450"/>
            <a:ext cx="816102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28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配套举措：城市实践与 COE 协同进化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71500" y="1031825"/>
            <a:ext cx="3937099" cy="996702"/>
          </a:xfrm>
          <a:prstGeom prst="roundRect">
            <a:avLst>
              <a:gd name="adj" fmla="val 509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71500" y="1036588"/>
            <a:ext cx="3937099" cy="0"/>
          </a:xfrm>
          <a:prstGeom prst="line">
            <a:avLst/>
          </a:prstGeom>
          <a:noFill/>
          <a:ln w="9525">
            <a:solidFill>
              <a:srgbClr val="EEEE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03837" y="1031825"/>
            <a:ext cx="0" cy="996702"/>
          </a:xfrm>
          <a:prstGeom prst="line">
            <a:avLst/>
          </a:prstGeom>
          <a:noFill/>
          <a:ln w="9525">
            <a:solidFill>
              <a:srgbClr val="EEEE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1500" y="2023765"/>
            <a:ext cx="3937099" cy="0"/>
          </a:xfrm>
          <a:prstGeom prst="line">
            <a:avLst/>
          </a:prstGeom>
          <a:noFill/>
          <a:ln w="9525">
            <a:solidFill>
              <a:srgbClr val="EEEE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5313" y="1031825"/>
            <a:ext cx="0" cy="996702"/>
          </a:xfrm>
          <a:prstGeom prst="line">
            <a:avLst/>
          </a:prstGeom>
          <a:noFill/>
          <a:ln w="47625">
            <a:solidFill>
              <a:srgbClr val="E3373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6075" y="1307902"/>
            <a:ext cx="369856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00"/>
              </a:spcBef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E33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COE 核心定义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46075" y="1568202"/>
            <a:ext cx="3698569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来自城市实践的</a:t>
            </a:r>
            <a:pPr algn="l" indent="0" marL="0">
              <a:buNone/>
            </a:pPr>
            <a:r>
              <a:rPr lang="en-US" sz="9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后验总结</a:t>
            </a:r>
            <a:pPr algn="l" indent="0" marL="0">
              <a:buNone/>
            </a:pPr>
            <a:r>
              <a:rPr lang="en-US" sz="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，而非总部先验设计。总部关注结果与红线，接受路径差异。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635550" y="1031825"/>
            <a:ext cx="3937099" cy="996702"/>
          </a:xfrm>
          <a:prstGeom prst="roundRect">
            <a:avLst>
              <a:gd name="adj" fmla="val 509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4635550" y="1036588"/>
            <a:ext cx="3937099" cy="0"/>
          </a:xfrm>
          <a:prstGeom prst="line">
            <a:avLst/>
          </a:prstGeom>
          <a:noFill/>
          <a:ln w="9525">
            <a:solidFill>
              <a:srgbClr val="EEEE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67886" y="1031825"/>
            <a:ext cx="0" cy="996702"/>
          </a:xfrm>
          <a:prstGeom prst="line">
            <a:avLst/>
          </a:prstGeom>
          <a:noFill/>
          <a:ln w="9525">
            <a:solidFill>
              <a:srgbClr val="EEEE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35550" y="2023765"/>
            <a:ext cx="3937099" cy="0"/>
          </a:xfrm>
          <a:prstGeom prst="line">
            <a:avLst/>
          </a:prstGeom>
          <a:noFill/>
          <a:ln w="9525">
            <a:solidFill>
              <a:srgbClr val="EEEE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59362" y="1031825"/>
            <a:ext cx="0" cy="996702"/>
          </a:xfrm>
          <a:prstGeom prst="line">
            <a:avLst/>
          </a:prstGeom>
          <a:noFill/>
          <a:ln w="47625">
            <a:solidFill>
              <a:srgbClr val="21212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10125" y="1307902"/>
            <a:ext cx="369856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00"/>
              </a:spcBef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E33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防反噬 3 条边界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10125" y="1568202"/>
            <a:ext cx="3698569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信号指标 ≠ KPI；② 总部信号 ≠ 强制使用；③ COE 只能沉淀不能反压。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71500" y="2219027"/>
            <a:ext cx="816102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300"/>
              </a:spcBef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E33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终极逻辑闭环：进化型管理系统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71500" y="2584103"/>
            <a:ext cx="8001000" cy="622102"/>
          </a:xfrm>
          <a:prstGeom prst="roundRect">
            <a:avLst>
              <a:gd name="adj" fmla="val 8166"/>
            </a:avLst>
          </a:prstGeom>
          <a:solidFill>
            <a:srgbClr val="21212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750207" y="2818954"/>
            <a:ext cx="118772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850"/>
              </a:spcBef>
              <a:spcAft>
                <a:spcPts val="850"/>
              </a:spcAft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定结果/红线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2041440" y="2818954"/>
            <a:ext cx="118772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850"/>
              </a:spcBef>
              <a:spcAft>
                <a:spcPts val="850"/>
              </a:spcAft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自选路径/信号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332672" y="2818954"/>
            <a:ext cx="118772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850"/>
              </a:spcBef>
              <a:spcAft>
                <a:spcPts val="850"/>
              </a:spcAft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多路径跑结果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623905" y="2818954"/>
            <a:ext cx="118772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850"/>
              </a:spcBef>
              <a:spcAft>
                <a:spcPts val="850"/>
              </a:spcAft>
              <a:buNone/>
            </a:pPr>
            <a:r>
              <a:rPr lang="en-US" sz="850" b="1" dirty="0">
                <a:solidFill>
                  <a:srgbClr val="E33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萃取有效 COE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915138" y="2818954"/>
            <a:ext cx="118772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850"/>
              </a:spcBef>
              <a:spcAft>
                <a:spcPts val="850"/>
              </a:spcAft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可选工具反哺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7206371" y="2818954"/>
            <a:ext cx="118772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850"/>
              </a:spcBef>
              <a:spcAft>
                <a:spcPts val="850"/>
              </a:spcAft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自由组合进化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91490" y="3396704"/>
            <a:ext cx="816102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500"/>
              </a:spcBef>
              <a:spcAft>
                <a:spcPts val="1050"/>
              </a:spcAft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真正有价值的方法论，是</a:t>
            </a:r>
            <a:pPr algn="ctr" indent="0" marL="0">
              <a:spcBef>
                <a:spcPts val="1500"/>
              </a:spcBef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进化</a:t>
            </a:r>
            <a:pPr algn="ctr" indent="0" marL="0">
              <a:spcBef>
                <a:spcPts val="1500"/>
              </a:spcBef>
              <a:spcAft>
                <a:spcPts val="1050"/>
              </a:spcAft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出来的，而不是</a:t>
            </a:r>
            <a:pPr algn="ctr" indent="0" marL="0">
              <a:spcBef>
                <a:spcPts val="1500"/>
              </a:spcBef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管理</a:t>
            </a:r>
            <a:pPr algn="ctr" indent="0" marL="0">
              <a:spcBef>
                <a:spcPts val="1500"/>
              </a:spcBef>
              <a:spcAft>
                <a:spcPts val="1050"/>
              </a:spcAft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出来的。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6950" cy="5143500"/>
          </a:xfrm>
          <a:prstGeom prst="rect">
            <a:avLst/>
          </a:prstGeom>
          <a:solidFill>
            <a:srgbClr val="E337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317450"/>
            <a:ext cx="8290661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28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配套举措：AI 管理提效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7950" y="968276"/>
            <a:ext cx="8128099" cy="829121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46050" y="968276"/>
            <a:ext cx="0" cy="829121"/>
          </a:xfrm>
          <a:prstGeom prst="line">
            <a:avLst/>
          </a:prstGeom>
          <a:noFill/>
          <a:ln w="76200">
            <a:solidFill>
              <a:srgbClr val="E337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8051" y="1095226"/>
            <a:ext cx="782446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33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定位：不是“替人决策”，而是“降低判断成本”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38051" y="1501527"/>
            <a:ext cx="7824469" cy="16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30"/>
              </a:lnSpc>
              <a:spcBef>
                <a:spcPts val="800"/>
              </a:spcBef>
              <a:buNone/>
            </a:pPr>
            <a:r>
              <a:rPr lang="en-US" sz="9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唯一角色：</a:t>
            </a:r>
            <a:pPr algn="l" indent="0" marL="0">
              <a:lnSpc>
                <a:spcPts val="1330"/>
              </a:lnSpc>
              <a:spcBef>
                <a:spcPts val="800"/>
              </a:spcBef>
              <a:buNone/>
            </a:pPr>
            <a:r>
              <a:rPr lang="en-US" sz="95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认知放大器 + 学习加速器</a:t>
            </a:r>
            <a:pPr algn="l" indent="0" marL="0">
              <a:lnSpc>
                <a:spcPts val="1330"/>
              </a:lnSpc>
              <a:spcBef>
                <a:spcPts val="800"/>
              </a:spcBef>
              <a:buNone/>
            </a:pPr>
            <a:r>
              <a:rPr lang="en-US" sz="9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。负责把复杂信息变成可判断的资产，判断权归人。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07950" y="1898898"/>
            <a:ext cx="4013299" cy="1057573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 w="9525">
            <a:solidFill>
              <a:srgbClr val="EEEEE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004072" y="2009924"/>
            <a:ext cx="406152" cy="207913"/>
          </a:xfrm>
          <a:prstGeom prst="roundRect">
            <a:avLst>
              <a:gd name="adj" fmla="val 12217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054822" y="2047875"/>
            <a:ext cx="310744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信号层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18976" y="2125861"/>
            <a:ext cx="386707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13"/>
              </a:spcBef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E33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信号整理员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18976" y="2373511"/>
            <a:ext cx="3867073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痛点：</a:t>
            </a:r>
            <a:pPr algn="l" indent="0" marL="0">
              <a:lnSpc>
                <a:spcPts val="104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数据海量、多维信号看不过来、一线解释成本极高。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18976" y="2530822"/>
            <a:ext cx="3867073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落地：</a:t>
            </a:r>
            <a:pPr algn="l" indent="0" marL="0">
              <a:lnSpc>
                <a:spcPts val="104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识别“异常模式”而非单指标，提供历史对比与结构分析。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18976" y="2688134"/>
            <a:ext cx="3867073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👉 输出：“类似异常历史上曾发生 6 次”，不给对错结论。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622750" y="1898898"/>
            <a:ext cx="4013299" cy="1057573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 w="9525">
            <a:solidFill>
              <a:srgbClr val="EEEEE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8118872" y="2009924"/>
            <a:ext cx="406152" cy="207913"/>
          </a:xfrm>
          <a:prstGeom prst="roundRect">
            <a:avLst>
              <a:gd name="adj" fmla="val 12217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8169622" y="2047875"/>
            <a:ext cx="310744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城市侧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733776" y="2125861"/>
            <a:ext cx="386707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13"/>
              </a:spcBef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E33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路径镜子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33776" y="2373511"/>
            <a:ext cx="3867073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痛点：</a:t>
            </a:r>
            <a:pPr algn="l" indent="0" marL="0">
              <a:lnSpc>
                <a:spcPts val="104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难以判断路径有效性，横向学习难，动作回溯模糊。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733776" y="2530822"/>
            <a:ext cx="3867073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落地：</a:t>
            </a:r>
            <a:pPr algn="l" indent="0" marL="0">
              <a:lnSpc>
                <a:spcPts val="104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基于“动作-结果”做回放标记，识别核心贡献与无效忙碌。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733776" y="2688134"/>
            <a:ext cx="3867073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👉 定位：这是反思工具（Self-Reflection），非考核工具。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07950" y="3057971"/>
            <a:ext cx="4013299" cy="1057573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 w="9525">
            <a:solidFill>
              <a:srgbClr val="EEEEE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004072" y="3168997"/>
            <a:ext cx="406152" cy="207913"/>
          </a:xfrm>
          <a:prstGeom prst="roundRect">
            <a:avLst>
              <a:gd name="adj" fmla="val 12217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054822" y="3206948"/>
            <a:ext cx="310744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总部侧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18976" y="3284934"/>
            <a:ext cx="386707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13"/>
              </a:spcBef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E33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COE 抽练机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18976" y="3532584"/>
            <a:ext cx="3867073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痛点：</a:t>
            </a:r>
            <a:pPr algn="l" indent="0" marL="0">
              <a:lnSpc>
                <a:spcPts val="104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城市路径不一，隐性成功经验难以被科学抽象和复用。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18976" y="3689896"/>
            <a:ext cx="3867073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落地：</a:t>
            </a:r>
            <a:pPr algn="l" indent="0" marL="0">
              <a:lnSpc>
                <a:spcPts val="104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输入结果与声明路径，抽练“共同特征”与适用条件。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18976" y="3847207"/>
            <a:ext cx="3867073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👉 价值：输出“在什么条件下，哪些路径较有效”，形成 COE。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622750" y="3057971"/>
            <a:ext cx="4013299" cy="1057573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 w="9525">
            <a:solidFill>
              <a:srgbClr val="EEEEE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8118872" y="3168997"/>
            <a:ext cx="406152" cy="207913"/>
          </a:xfrm>
          <a:prstGeom prst="roundRect">
            <a:avLst>
              <a:gd name="adj" fmla="val 12217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8169622" y="3206948"/>
            <a:ext cx="310744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管理层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733776" y="3284934"/>
            <a:ext cx="386707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13"/>
              </a:spcBef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E33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判断记录仪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733776" y="3532584"/>
            <a:ext cx="3867073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痛点：</a:t>
            </a:r>
            <a:pPr algn="l" indent="0" marL="0">
              <a:lnSpc>
                <a:spcPts val="104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决策碎片化、事后难复盘，管理者判断力无法资产化。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733776" y="3689896"/>
            <a:ext cx="3867073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落地：</a:t>
            </a:r>
            <a:pPr algn="l" indent="0" marL="0">
              <a:lnSpc>
                <a:spcPts val="104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记录当下的信号环境与决策选择。下次情境类似时自动唤醒。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733776" y="3847207"/>
            <a:ext cx="3867073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👉 价值：在潜移默化中“训练管理者”，而非替代其判断。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07950" y="4217045"/>
            <a:ext cx="8128099" cy="314325"/>
          </a:xfrm>
          <a:prstGeom prst="roundRect">
            <a:avLst>
              <a:gd name="adj" fmla="val 16162"/>
            </a:avLst>
          </a:prstGeom>
          <a:solidFill>
            <a:srgbClr val="21212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504393" y="4293245"/>
            <a:ext cx="813521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底线判断：</a:t>
            </a:r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凡是让 AI 告诉人“该干什么”的都在削弱组织；凡是帮人“更好判断”的才是增强组织。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121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6950" cy="5143500"/>
          </a:xfrm>
          <a:prstGeom prst="rect">
            <a:avLst/>
          </a:prstGeom>
          <a:solidFill>
            <a:srgbClr val="E337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123694" y="1569541"/>
            <a:ext cx="4896612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800"/>
              </a:spcBef>
              <a:spcAft>
                <a:spcPts val="3000"/>
              </a:spcAft>
              <a:buNone/>
            </a:pPr>
            <a:r>
              <a:rPr lang="en-US" sz="1800" dirty="0">
                <a:solidFill>
                  <a:srgbClr val="CC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指标减负的实质，不是优化指标，而是优化结构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592681" y="2283916"/>
            <a:ext cx="5958638" cy="15186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980"/>
              </a:lnSpc>
              <a:buNone/>
            </a:pPr>
            <a:r>
              <a:rPr lang="en-US" sz="4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让 </a:t>
            </a:r>
            <a:pPr algn="ctr" indent="0" marL="0">
              <a:lnSpc>
                <a:spcPts val="5980"/>
              </a:lnSpc>
              <a:buNone/>
            </a:pPr>
            <a:r>
              <a:rPr lang="en-US" sz="4600" b="1" dirty="0">
                <a:solidFill>
                  <a:srgbClr val="E33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指标</a:t>
            </a:r>
            <a:pPr algn="ctr" indent="0" marL="0">
              <a:lnSpc>
                <a:spcPts val="5980"/>
              </a:lnSpc>
              <a:buNone/>
            </a:pPr>
            <a:r>
              <a:rPr lang="en-US" sz="4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服务 </a:t>
            </a:r>
            <a:pPr algn="ctr" indent="0" marL="0">
              <a:lnSpc>
                <a:spcPts val="5980"/>
              </a:lnSpc>
              <a:buNone/>
            </a:pPr>
            <a:r>
              <a:rPr lang="en-US" sz="4600" b="1" dirty="0">
                <a:solidFill>
                  <a:srgbClr val="E33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业务</a:t>
            </a:r>
            <a:pPr algn="ctr" indent="0" marL="0">
              <a:lnSpc>
                <a:spcPts val="5980"/>
              </a:lnSpc>
              <a:buNone/>
            </a:pPr>
            <a:endParaRPr lang="en-US" sz="4600" dirty="0"/>
          </a:p>
          <a:p>
            <a:pPr algn="ctr" indent="0" marL="0">
              <a:lnSpc>
                <a:spcPts val="5980"/>
              </a:lnSpc>
              <a:buNone/>
            </a:pPr>
            <a:r>
              <a:rPr lang="en-US" sz="4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而不是让业务服务指标</a:t>
            </a:r>
            <a:endParaRPr lang="en-US" sz="4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2026-01-21T19:00:00Z</dcterms:created>
  <dcterms:modified xsi:type="dcterms:W3CDTF">2026-01-21T19:00:00Z</dcterms:modified>
</cp:coreProperties>
</file>