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095500"/>
            <a:ext cx="854964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指标减负思路设计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07950"/>
            <a:ext cx="829066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3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一线指标负担的实质问题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7950" y="1463576"/>
            <a:ext cx="3937099" cy="26147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463576"/>
            <a:ext cx="0" cy="2614761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476" y="1907084"/>
            <a:ext cx="344930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根源分析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9476" y="2405509"/>
            <a:ext cx="344930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后线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生产指标无成本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，甚至把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下发指标当成绩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9476" y="2801541"/>
            <a:ext cx="3381673" cy="56346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各职能从自身视角不断生产指标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指标提出者不承担落地复杂度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98950" y="1463576"/>
            <a:ext cx="3937099" cy="26147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22763" y="1463576"/>
            <a:ext cx="0" cy="2614761"/>
          </a:xfrm>
          <a:prstGeom prst="line">
            <a:avLst/>
          </a:prstGeom>
          <a:noFill/>
          <a:ln w="47625">
            <a:solidFill>
              <a:srgbClr val="2121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0476" y="1907084"/>
            <a:ext cx="344930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本质探究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00476" y="2405509"/>
            <a:ext cx="344930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专业能力不够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，指标越来越数值化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00476" y="2801541"/>
            <a:ext cx="3381673" cy="8959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只剩 What：目标是多少、排第几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被简化为“领导说了/上面要”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被机械标准化，替代一线判断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07950"/>
            <a:ext cx="829066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3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以至于形式上也出现了异化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7950" y="1463576"/>
            <a:ext cx="8128099" cy="1183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463576"/>
            <a:ext cx="0" cy="1183184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476" y="1907084"/>
            <a:ext cx="772412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荣誉指标化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7950" y="2837259"/>
            <a:ext cx="8128099" cy="1183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1763" y="2837259"/>
            <a:ext cx="0" cy="1183184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476" y="3280767"/>
            <a:ext cx="772412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项目指标化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07950"/>
            <a:ext cx="8128099" cy="4127599"/>
          </a:xfrm>
          <a:prstGeom prst="rect">
            <a:avLst/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84832" y="2084189"/>
            <a:ext cx="4974336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4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管理动作在变“充分”、“科学”，</a:t>
            </a:r>
            <a:endParaRPr lang="en-US" sz="2400" dirty="0"/>
          </a:p>
          <a:p>
            <a:pPr algn="ctr" indent="0" marL="0">
              <a:lnSpc>
                <a:spcPts val="384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但对</a:t>
            </a:r>
            <a:endParaRPr lang="en-US" sz="2400" dirty="0"/>
          </a:p>
          <a:p>
            <a:pPr algn="ctr" indent="0" marL="0">
              <a:lnSpc>
                <a:spcPts val="38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真实业务的指导价值</a:t>
            </a:r>
            <a:pPr algn="ctr" indent="0" marL="0">
              <a:lnSpc>
                <a:spcPts val="384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反而在下降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07950"/>
            <a:ext cx="829066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3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解题思路：短期治理升级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7950" y="1463576"/>
            <a:ext cx="8128099" cy="22187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463576"/>
            <a:ext cx="0" cy="221873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476" y="1907084"/>
            <a:ext cx="772412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给“指标生产”增加摩擦，而不是给执行增加摩擦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9476" y="2405509"/>
            <a:ext cx="7572673" cy="8959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总部建立“指标门槛”，下达前先被“专业审查”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定义指标规范要求，提交前明确类型、目的、可行性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职能必须为指标质量负责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07950"/>
            <a:ext cx="829066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3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解题思路：长期专业建设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7950" y="1463576"/>
            <a:ext cx="8128099" cy="22187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463576"/>
            <a:ext cx="0" cy="2218730"/>
          </a:xfrm>
          <a:prstGeom prst="line">
            <a:avLst/>
          </a:prstGeom>
          <a:noFill/>
          <a:ln w="47625">
            <a:solidFill>
              <a:srgbClr val="2121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476" y="1907084"/>
            <a:ext cx="772412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让一线有空间创新“方法”，让后线有能力提炼“方法论”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9476" y="2405509"/>
            <a:ext cx="7572673" cy="8959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建立以城市为基础打法来源的“共创共治”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让指标在下达后可以“被本地化”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指标是组织的公共资源，而非职能私产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07950"/>
            <a:ext cx="829066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3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动态机制：防止无序增长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7950" y="1463576"/>
            <a:ext cx="8128099" cy="201334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463576"/>
            <a:ext cx="0" cy="2013347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476" y="1907084"/>
            <a:ext cx="772412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柔性准入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9476" y="2405509"/>
            <a:ext cx="772412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不固定组织，后续若需新增或变更指标，需临时组建同样的共创审议。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9476" y="2826990"/>
            <a:ext cx="772412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500"/>
              </a:spcBef>
              <a:spcAft>
                <a:spcPts val="1300"/>
              </a:spcAft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旨在防止指标在执行过程中继续无序增长。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23694" y="1569541"/>
            <a:ext cx="489661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3000"/>
              </a:spcAft>
              <a:buNone/>
            </a:pPr>
            <a:r>
              <a:rPr lang="en-US" sz="18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指标减负的实质，不是优化指标，而是优化结构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2681" y="2283916"/>
            <a:ext cx="5958638" cy="1518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98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</a:t>
            </a:r>
            <a:pPr algn="ctr" indent="0" marL="0">
              <a:lnSpc>
                <a:spcPts val="5980"/>
              </a:lnSpc>
              <a:buNone/>
            </a:pPr>
            <a:r>
              <a:rPr lang="en-US" sz="4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</a:t>
            </a:r>
            <a:pPr algn="ctr" indent="0" marL="0">
              <a:lnSpc>
                <a:spcPts val="598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服务 </a:t>
            </a:r>
            <a:pPr algn="ctr" indent="0" marL="0">
              <a:lnSpc>
                <a:spcPts val="5980"/>
              </a:lnSpc>
              <a:buNone/>
            </a:pPr>
            <a:r>
              <a:rPr lang="en-US" sz="4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</a:t>
            </a:r>
            <a:pPr algn="ctr" indent="0" marL="0">
              <a:lnSpc>
                <a:spcPts val="5980"/>
              </a:lnSpc>
              <a:buNone/>
            </a:pPr>
            <a:endParaRPr lang="en-US" sz="4600" dirty="0"/>
          </a:p>
          <a:p>
            <a:pPr algn="ctr" indent="0" marL="0">
              <a:lnSpc>
                <a:spcPts val="598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而不是让业务服务指标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2026-01-21T18:50:03Z</dcterms:created>
  <dcterms:modified xsi:type="dcterms:W3CDTF">2026-01-21T18:50:03Z</dcterms:modified>
</cp:coreProperties>
</file>