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73936" y="1787575"/>
            <a:ext cx="559612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指标减负思路设计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773936" y="2917775"/>
            <a:ext cx="559612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让指标服务业务，而不是让业务服务指标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61048" y="4327624"/>
            <a:ext cx="14503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企业管理优化方案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一线指标负担的实质问题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3700760" cy="3746599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269802"/>
            <a:ext cx="32568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1851" y="1663452"/>
            <a:ext cx="32568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后线</a:t>
            </a:r>
            <a:pPr algn="l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生产指标无成本</a:t>
            </a:r>
            <a:pPr algn="l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，甚至把</a:t>
            </a:r>
            <a:pPr algn="l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下发指标当成绩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1851" y="2323802"/>
            <a:ext cx="3192959" cy="476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buSzPct val="100000"/>
              <a:buChar char="•"/>
            </a:pP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各职能从自身视角不断生产指标</a:t>
            </a:r>
            <a:endParaRPr lang="en-US" sz="1300" dirty="0"/>
          </a:p>
          <a:p>
            <a:pPr algn="l" marL="127000" indent="-127000">
              <a:buSzPct val="100000"/>
              <a:buChar char="•"/>
            </a:pP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指标提出者不承担落地复杂度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89711" y="1015901"/>
            <a:ext cx="3700760" cy="3746599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43611" y="1269802"/>
            <a:ext cx="32568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3611" y="1663452"/>
            <a:ext cx="32568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专业能力不够</a:t>
            </a:r>
            <a:pPr algn="l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，指标越来越数值化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3611" y="2057102"/>
            <a:ext cx="3192959" cy="71437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buSzPct val="100000"/>
              <a:buChar char="•"/>
            </a:pP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只剩 What（目标是多少、排第几）</a:t>
            </a:r>
            <a:endParaRPr lang="en-US" sz="1300" dirty="0"/>
          </a:p>
          <a:p>
            <a:pPr algn="l" marL="127000" indent="-127000">
              <a:buSzPct val="100000"/>
              <a:buChar char="•"/>
            </a:pP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被简化为"领导说了"</a:t>
            </a:r>
            <a:endParaRPr lang="en-US" sz="1300" dirty="0"/>
          </a:p>
          <a:p>
            <a:pPr algn="l" marL="127000" indent="-127000">
              <a:buSzPct val="100000"/>
              <a:buChar char="•"/>
            </a:pP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被机械标准化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问题的异化表现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79450"/>
            <a:ext cx="3937099" cy="1110407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079450"/>
            <a:ext cx="0" cy="1110407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4175" y="1308050"/>
            <a:ext cx="35009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荣誉指标化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4175" y="1730276"/>
            <a:ext cx="350092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荣誉不再是认可，而是成为考核数字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98950" y="1079450"/>
            <a:ext cx="3937099" cy="1110407"/>
          </a:xfrm>
          <a:prstGeom prst="roundRect">
            <a:avLst>
              <a:gd name="adj" fmla="val 91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2763" y="1079450"/>
            <a:ext cx="0" cy="1110407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5175" y="1308050"/>
            <a:ext cx="35009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项目指标化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75175" y="1730276"/>
            <a:ext cx="350092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项目不再是探索，而是成为指标载体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50" y="2443758"/>
            <a:ext cx="8128099" cy="803077"/>
          </a:xfrm>
          <a:prstGeom prst="roundRect">
            <a:avLst>
              <a:gd name="adj" fmla="val 12651"/>
            </a:avLst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648" y="2697659"/>
            <a:ext cx="77727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管理动作在变"充分"、"科学"，但对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真实业务的指导价值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反而在下降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解题思路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999976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短期治理升级，长期专业建设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69950"/>
            <a:ext cx="3905399" cy="34925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298525"/>
            <a:ext cx="3905399" cy="0"/>
          </a:xfrm>
          <a:prstGeom prst="line">
            <a:avLst/>
          </a:prstGeom>
          <a:noFill/>
          <a:ln w="57150">
            <a:solidFill>
              <a:srgbClr val="E337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401" y="1644551"/>
            <a:ext cx="333590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短期：给"指标生产"增加摩擦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5401" y="2168426"/>
            <a:ext cx="3270498" cy="12189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在总部建立"指标门槛"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下指标前先被"专业审查"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定义指标规范要求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说不清Why的指标自然消失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职能必须为指标质量负责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30800" y="1269950"/>
            <a:ext cx="3905399" cy="34925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30800" y="1298525"/>
            <a:ext cx="3905399" cy="0"/>
          </a:xfrm>
          <a:prstGeom prst="line">
            <a:avLst/>
          </a:prstGeom>
          <a:noFill/>
          <a:ln w="57150">
            <a:solidFill>
              <a:srgbClr val="2929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8250" y="1644551"/>
            <a:ext cx="333590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长期：让一线创新，后线提炼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8250" y="2168426"/>
            <a:ext cx="3270498" cy="9751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建立以城市为基础的"共创共治"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指标下达后可以"被本地化"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指标是组织的公共资源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不是职能的私产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落地方式：先做指标共建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08000"/>
            <a:ext cx="82906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在今年下指标之前，先组织一次指标共建会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206401"/>
            <a:ext cx="8128099" cy="752475"/>
          </a:xfrm>
          <a:prstGeom prst="roundRect">
            <a:avLst>
              <a:gd name="adj" fmla="val 13502"/>
            </a:avLst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5401" y="1435001"/>
            <a:ext cx="764306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"不急着调考核，先把指标本身做对"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212777"/>
            <a:ext cx="2540050" cy="1552575"/>
          </a:xfrm>
          <a:prstGeom prst="roundRect">
            <a:avLst>
              <a:gd name="adj" fmla="val 6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2441377"/>
            <a:ext cx="21245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指标共建会是什么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550" y="2850952"/>
            <a:ext cx="2124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所有总部职能想下到城市的指标，必须先拿到会里统一评审/共创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01901" y="2212777"/>
            <a:ext cx="2540050" cy="1552575"/>
          </a:xfrm>
          <a:prstGeom prst="roundRect">
            <a:avLst>
              <a:gd name="adj" fmla="val 6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30501" y="2441377"/>
            <a:ext cx="21245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参与者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30501" y="2850952"/>
            <a:ext cx="21245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总部专业部门策略、业务，以及真正接收指标的城市业策/核心人员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5851" y="2212777"/>
            <a:ext cx="2540050" cy="1552575"/>
          </a:xfrm>
          <a:prstGeom prst="roundRect">
            <a:avLst>
              <a:gd name="adj" fmla="val 6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24451" y="2441377"/>
            <a:ext cx="21245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关键原则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4451" y="2850952"/>
            <a:ext cx="2124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只有在共创会上通过的指标，才进入年度正式考核体系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指标提交模板的硬要求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8128099" cy="2067223"/>
          </a:xfrm>
          <a:prstGeom prst="roundRect">
            <a:avLst>
              <a:gd name="adj" fmla="val 49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269802"/>
            <a:ext cx="77727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每个指标必须讲清楚：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1851" y="1717477"/>
            <a:ext cx="2413099" cy="1111746"/>
          </a:xfrm>
          <a:prstGeom prst="roundRect">
            <a:avLst>
              <a:gd name="adj" fmla="val 685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85664" y="1717477"/>
            <a:ext cx="0" cy="1111746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9976" y="1907977"/>
            <a:ext cx="20241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指标类型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9976" y="2247602"/>
            <a:ext cx="202416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结果指标 / 信号指标 / 约束指标？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65450" y="1717477"/>
            <a:ext cx="2413099" cy="1111746"/>
          </a:xfrm>
          <a:prstGeom prst="roundRect">
            <a:avLst>
              <a:gd name="adj" fmla="val 685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89263" y="1717477"/>
            <a:ext cx="0" cy="1111746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3575" y="1907977"/>
            <a:ext cx="20241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设计理念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03575" y="2247602"/>
            <a:ext cx="202416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/ How / What 的完整表达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69050" y="1717477"/>
            <a:ext cx="2413099" cy="1111746"/>
          </a:xfrm>
          <a:prstGeom prst="roundRect">
            <a:avLst>
              <a:gd name="adj" fmla="val 685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92862" y="1717477"/>
            <a:ext cx="0" cy="1111746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7175" y="1907977"/>
            <a:ext cx="20241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结构目标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07175" y="2247602"/>
            <a:ext cx="202416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整体指标结构想解决什么问题？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950" y="3273623"/>
            <a:ext cx="8128099" cy="609600"/>
          </a:xfrm>
          <a:prstGeom prst="roundRect">
            <a:avLst>
              <a:gd name="adj" fmla="val 12500"/>
            </a:avLst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8450" y="3464123"/>
            <a:ext cx="79020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动态机制：</a:t>
            </a:r>
            <a:pPr algn="l" indent="0" marL="0"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后续若需新增或变更指标，需临时组建同样的共创审议，防止指标在执行过程中继续无序增长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配套举措1：指标分类规范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44401" y="888950"/>
            <a:ext cx="2624733" cy="1874341"/>
          </a:xfrm>
          <a:prstGeom prst="roundRect">
            <a:avLst>
              <a:gd name="adj" fmla="val 5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4401" y="912763"/>
            <a:ext cx="2624733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1127075"/>
            <a:ext cx="22886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结果型指标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1485751"/>
            <a:ext cx="22886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"我们要什么结果"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1757511"/>
            <a:ext cx="22886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总部有权设定目标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2029271"/>
            <a:ext cx="22886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城市核心考核指标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2301032"/>
            <a:ext cx="22886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典型：收入、利润、合同额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59634" y="888950"/>
            <a:ext cx="2624733" cy="1874341"/>
          </a:xfrm>
          <a:prstGeom prst="roundRect">
            <a:avLst>
              <a:gd name="adj" fmla="val 5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59634" y="912763"/>
            <a:ext cx="2624733" cy="0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0134" y="1127075"/>
            <a:ext cx="22886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信号型指标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50134" y="1485751"/>
            <a:ext cx="22886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"哪些事有助于达成结果"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0134" y="1757511"/>
            <a:ext cx="22886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做指导和预警，一般不做考核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50134" y="2029271"/>
            <a:ext cx="22886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城市有权选择看哪些、怎么解释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0134" y="2301032"/>
            <a:ext cx="22886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总部做能力萃取，提供路径参考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74866" y="888950"/>
            <a:ext cx="2624733" cy="1874341"/>
          </a:xfrm>
          <a:prstGeom prst="roundRect">
            <a:avLst>
              <a:gd name="adj" fmla="val 5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74866" y="912763"/>
            <a:ext cx="2624733" cy="0"/>
          </a:xfrm>
          <a:prstGeom prst="line">
            <a:avLst/>
          </a:prstGeom>
          <a:noFill/>
          <a:ln w="47625">
            <a:solidFill>
              <a:srgbClr val="2929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5366" y="1127075"/>
            <a:ext cx="22886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约束型指标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5366" y="1485751"/>
            <a:ext cx="22886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"哪些事绝对不能越界"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5366" y="1757511"/>
            <a:ext cx="22886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只判断有没有越线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5366" y="2029271"/>
            <a:ext cx="22886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不做排名、不内卷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5366" y="2301032"/>
            <a:ext cx="228860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典型：安全、客诉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4401" y="2953792"/>
            <a:ext cx="8255198" cy="533400"/>
          </a:xfrm>
          <a:prstGeom prst="roundRect">
            <a:avLst>
              <a:gd name="adj" fmla="val 14286"/>
            </a:avLst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0828" y="3106192"/>
            <a:ext cx="79023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总部有"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目标定义权 + 约束设定权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"，一线有"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实现路径选择权 + 诊断解释权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配套举措2：城市信号库与COE建设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44401" y="888950"/>
            <a:ext cx="4000649" cy="2508796"/>
          </a:xfrm>
          <a:prstGeom prst="roundRect">
            <a:avLst>
              <a:gd name="adj" fmla="val 40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079450"/>
            <a:ext cx="36920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城市信号库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1463576"/>
            <a:ext cx="36920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总部提供基础信号，但城市可以有自己的信号库：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1735336"/>
            <a:ext cx="3619649" cy="4191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城市路径不同、结构不同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阶段不同、约束不同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2230636"/>
            <a:ext cx="36920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总部可接受差异化，因为总部要的是：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2502396"/>
            <a:ext cx="3619649" cy="6286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结果达成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红线不破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解释讲得通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98950" y="888950"/>
            <a:ext cx="4000649" cy="1232446"/>
          </a:xfrm>
          <a:prstGeom prst="roundRect">
            <a:avLst>
              <a:gd name="adj" fmla="val 82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89450" y="1079450"/>
            <a:ext cx="36920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COE的来源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89450" y="1463576"/>
            <a:ext cx="369204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真正有价值的COE，只能来自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城市实践的后验总结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，而不是总部先验设计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98950" y="2273796"/>
            <a:ext cx="4000649" cy="504825"/>
          </a:xfrm>
          <a:prstGeom prst="roundRect">
            <a:avLst>
              <a:gd name="adj" fmla="val 15094"/>
            </a:avLst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1350" y="2426196"/>
            <a:ext cx="3769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COE不是总部空想，是城市实践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防反噬边界 + 进化型管理闭环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4401" y="825401"/>
            <a:ext cx="3636913" cy="1368028"/>
          </a:xfrm>
          <a:prstGeom prst="roundRect">
            <a:avLst>
              <a:gd name="adj" fmla="val 5570"/>
            </a:avLst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6801" y="977801"/>
            <a:ext cx="33987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防反噬的3条边界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6801" y="1307902"/>
            <a:ext cx="33987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城市信号库 ≠ 城市KPI库（不得直接进入考核）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6801" y="1552277"/>
            <a:ext cx="33987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总部信号 ≠ 强制使用（不能追责"你为什么不用"）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6801" y="1796653"/>
            <a:ext cx="33987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COE只能沉淀不能反压（是可选经验库，不是强制手册）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35214" y="825401"/>
            <a:ext cx="4364385" cy="3230910"/>
          </a:xfrm>
          <a:prstGeom prst="roundRect">
            <a:avLst>
              <a:gd name="adj" fmla="val 3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47019" y="977801"/>
            <a:ext cx="4140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终极逻辑闭环（进化型管理系统）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7614" y="1333351"/>
            <a:ext cx="2232720" cy="364927"/>
          </a:xfrm>
          <a:prstGeom prst="roundRect">
            <a:avLst>
              <a:gd name="adj" fmla="val 1392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06664" y="1333351"/>
            <a:ext cx="0" cy="364927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7215" y="1434852"/>
            <a:ext cx="20314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总部定结果、定红线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7614" y="1774478"/>
            <a:ext cx="2232720" cy="364927"/>
          </a:xfrm>
          <a:prstGeom prst="roundRect">
            <a:avLst>
              <a:gd name="adj" fmla="val 1392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06664" y="1774478"/>
            <a:ext cx="0" cy="364927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7215" y="1875979"/>
            <a:ext cx="20314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城市自选路径、自建信号库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7614" y="2215604"/>
            <a:ext cx="2232720" cy="364927"/>
          </a:xfrm>
          <a:prstGeom prst="roundRect">
            <a:avLst>
              <a:gd name="adj" fmla="val 1392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06664" y="2215604"/>
            <a:ext cx="0" cy="364927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7215" y="2317105"/>
            <a:ext cx="20314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多路径并行跑结果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7614" y="2656731"/>
            <a:ext cx="2232720" cy="364927"/>
          </a:xfrm>
          <a:prstGeom prst="roundRect">
            <a:avLst>
              <a:gd name="adj" fmla="val 1392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506664" y="2656731"/>
            <a:ext cx="0" cy="364927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7215" y="2758232"/>
            <a:ext cx="20314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总部萃取有效路径形成COE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7614" y="3097857"/>
            <a:ext cx="2232720" cy="364927"/>
          </a:xfrm>
          <a:prstGeom prst="roundRect">
            <a:avLst>
              <a:gd name="adj" fmla="val 1392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06664" y="3097857"/>
            <a:ext cx="0" cy="364927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7215" y="3199358"/>
            <a:ext cx="20314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COE以"可选工具"反哺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7614" y="3538984"/>
            <a:ext cx="2232720" cy="364927"/>
          </a:xfrm>
          <a:prstGeom prst="roundRect">
            <a:avLst>
              <a:gd name="adj" fmla="val 1392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506664" y="3538984"/>
            <a:ext cx="0" cy="364927"/>
          </a:xfrm>
          <a:prstGeom prst="line">
            <a:avLst/>
          </a:prstGeom>
          <a:noFill/>
          <a:ln w="38100">
            <a:solidFill>
              <a:srgbClr val="E337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7215" y="3640485"/>
            <a:ext cx="20314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pPr algn="l" indent="0" marL="0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城市继续自由组合与进化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配套举措3：AI管理提效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806351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AI不是替人做管理，而是替人把复杂信息变成可判断的东西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1015901"/>
            <a:ext cx="8255198" cy="542925"/>
          </a:xfrm>
          <a:prstGeom prst="roundRect">
            <a:avLst>
              <a:gd name="adj" fmla="val 14035"/>
            </a:avLst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302" y="1168301"/>
            <a:ext cx="79023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判断权在人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，AI降低判断成本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4401" y="1749326"/>
            <a:ext cx="1949500" cy="1364754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4401" y="1773138"/>
            <a:ext cx="19495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2102" y="1974652"/>
            <a:ext cx="162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2102" y="2279452"/>
            <a:ext cx="16259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信号整理员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2102" y="2580977"/>
            <a:ext cx="162598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异常组合、历史对比、语境补全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46300" y="1749326"/>
            <a:ext cx="1949500" cy="1364754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46300" y="1773138"/>
            <a:ext cx="19495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001" y="1974652"/>
            <a:ext cx="162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4001" y="2279452"/>
            <a:ext cx="16259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路径镜子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24001" y="2580977"/>
            <a:ext cx="162598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回放动作-结果关联，识别忙碌无效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8200" y="1749326"/>
            <a:ext cx="1949500" cy="1364754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48200" y="1773138"/>
            <a:ext cx="19495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5901" y="1974652"/>
            <a:ext cx="162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5901" y="2279452"/>
            <a:ext cx="16259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COE抽练机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5901" y="2580977"/>
            <a:ext cx="162598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沉淀模式与适用条件，不输出标准打法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50100" y="1749326"/>
            <a:ext cx="1949500" cy="1364754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750100" y="1773138"/>
            <a:ext cx="19495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7800" y="1974652"/>
            <a:ext cx="162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27800" y="2279452"/>
            <a:ext cx="16259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判断记录仪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7800" y="2580977"/>
            <a:ext cx="16259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让人类判断可复用、可复盘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52267" y="1209526"/>
            <a:ext cx="54394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20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指标减负的实质，不是优化指标，而是优化结构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936950" y="1898452"/>
            <a:ext cx="1269950" cy="381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52267" y="2254002"/>
            <a:ext cx="5439466" cy="129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30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</a:t>
            </a:r>
            <a:pPr algn="ctr" indent="0" marL="0">
              <a:lnSpc>
                <a:spcPts val="5040"/>
              </a:lnSpc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pPr algn="ctr" indent="0" marL="0">
              <a:lnSpc>
                <a:spcPts val="5040"/>
              </a:lnSpc>
              <a:spcAft>
                <a:spcPts val="30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</a:t>
            </a:r>
            <a:pPr algn="ctr" indent="0" marL="0">
              <a:lnSpc>
                <a:spcPts val="5040"/>
              </a:lnSpc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</a:t>
            </a:r>
            <a:pPr algn="ctr" indent="0" marL="0">
              <a:lnSpc>
                <a:spcPts val="5040"/>
              </a:lnSpc>
              <a:spcAft>
                <a:spcPts val="3000"/>
              </a:spcAft>
              <a:buNone/>
            </a:pPr>
            <a:endParaRPr lang="en-US" sz="3600" dirty="0"/>
          </a:p>
          <a:p>
            <a:pPr algn="ctr" indent="0" marL="0">
              <a:lnSpc>
                <a:spcPts val="5040"/>
              </a:lnSpc>
              <a:spcAft>
                <a:spcPts val="30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而不是让业务服务指标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89425" y="1887587"/>
            <a:ext cx="476514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189425" y="2960638"/>
            <a:ext cx="47651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指标减负思路设计</dc:title>
  <dc:subject>企业管理优化方案</dc:subject>
  <dc:creator>Antigravity</dc:creator>
  <cp:lastModifiedBy>Antigravity</cp:lastModifiedBy>
  <cp:revision>1</cp:revision>
  <dcterms:created xsi:type="dcterms:W3CDTF">2026-01-21T17:39:04Z</dcterms:created>
  <dcterms:modified xsi:type="dcterms:W3CDTF">2026-01-21T17:39:04Z</dcterms:modified>
</cp:coreProperties>
</file>