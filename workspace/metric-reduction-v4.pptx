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385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95500"/>
            <a:ext cx="85496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指标减负思路设计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一线指标负担的实质问题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428700"/>
            <a:ext cx="387355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428700"/>
            <a:ext cx="0" cy="2614761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3026" y="1872208"/>
            <a:ext cx="33844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2370634"/>
            <a:ext cx="338448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后线</a:t>
            </a: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生产指标无成本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，甚至把</a:t>
            </a: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下发指标当成绩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766665"/>
            <a:ext cx="3318123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各职能从自身视角不断生产指标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指标提出者不承担落地复杂度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1428700"/>
            <a:ext cx="387355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22763" y="1428700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00476" y="1872208"/>
            <a:ext cx="33844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本质探究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00476" y="2370634"/>
            <a:ext cx="338448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专业能力不够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，指标越来越数值化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0476" y="2766665"/>
            <a:ext cx="331812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只剩 What：目标是多少、排第几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被简化为“领导说了/上面要”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被机械标准化，替代一线判断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以至于形式上也出现了异化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荣誉指标化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405509"/>
            <a:ext cx="8001000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5313" y="2405509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3026" y="2849017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项目指标化</a:t>
            </a:r>
            <a:endParaRPr lang="en-US" sz="1800" dirty="0"/>
          </a:p>
        </p:txBody>
      </p:sp>
      <p:sp>
        <p:nvSpPr>
          <p:cNvPr id="10" name="Text 1"/>
          <p:cNvSpPr/>
          <p:nvPr/>
        </p:nvSpPr>
        <p:spPr>
          <a:xfrm>
            <a:off x="595313" y="3727450"/>
            <a:ext cx="8001000" cy="1228774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2"/>
          <p:cNvSpPr/>
          <p:nvPr/>
        </p:nvSpPr>
        <p:spPr>
          <a:xfrm>
            <a:off x="2191195" y="3795514"/>
            <a:ext cx="4974336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管理动作在变“充分”、“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”，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但对</a:t>
            </a:r>
            <a:endParaRPr lang="en-US" sz="2400" dirty="0"/>
          </a:p>
          <a:p>
            <a:pPr marL="0" indent="0" algn="ctr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真实业务的指导价值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反而在下降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解题思路：短期治理升级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21873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给“指标生产”增加摩擦，而不是给执行增加摩擦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总部建立“指标门槛”，下达前先被“专业审查”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定义指标规范要求，提交前明确类型、目的、可行性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职能必须为指标质量负责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解题思路：长期专业建设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218730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让一线有空间创新“方法”，让后线有能力提炼“方法论”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建立以城市为基础打法来源的“共创共治”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让指标在下达后可以“被本地化”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指标是组织的公共资源，而非职能私产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落地方式：指标共建会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71500" y="1055638"/>
            <a:ext cx="8001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3501" y="1333351"/>
            <a:ext cx="0" cy="304800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55502" y="1333351"/>
            <a:ext cx="7306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"在今年下指标之前，先组织一次指标共建会"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401" y="1765102"/>
            <a:ext cx="7493198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评审机制：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所有总部职能想下到城市的指标，必须先拿到会里统一评审/共创。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多方参与：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总部策略、业务，以及真正接收指标的城市业策、核心人员共同参与。</a:t>
            </a:r>
            <a:endParaRPr lang="en-US" sz="1300" dirty="0"/>
          </a:p>
        </p:txBody>
      </p:sp>
      <p:sp>
        <p:nvSpPr>
          <p:cNvPr id="10" name="Text 2"/>
          <p:cNvSpPr/>
          <p:nvPr/>
        </p:nvSpPr>
        <p:spPr>
          <a:xfrm>
            <a:off x="825401" y="2737942"/>
            <a:ext cx="8001000" cy="20133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3"/>
          <p:cNvSpPr/>
          <p:nvPr/>
        </p:nvSpPr>
        <p:spPr>
          <a:xfrm>
            <a:off x="849214" y="2737942"/>
            <a:ext cx="0" cy="201334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4"/>
          <p:cNvSpPr/>
          <p:nvPr/>
        </p:nvSpPr>
        <p:spPr>
          <a:xfrm>
            <a:off x="1155502" y="3120430"/>
            <a:ext cx="7594485" cy="30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E33737"/>
                </a:solidFill>
                <a:latin typeface="Arial" pitchFamily="34" charset="0"/>
                <a:cs typeface="Arial" pitchFamily="34" charset="-120"/>
              </a:rPr>
              <a:t>长期</a:t>
            </a:r>
            <a:r>
              <a:rPr lang="en-US" altLang="zh-CN" sz="1600" b="1" dirty="0" err="1">
                <a:solidFill>
                  <a:srgbClr val="E33737"/>
                </a:solidFill>
                <a:latin typeface="Arial" pitchFamily="34" charset="0"/>
                <a:cs typeface="Arial" pitchFamily="34" charset="-120"/>
              </a:rPr>
              <a:t>防止无序增长</a:t>
            </a:r>
            <a:endParaRPr lang="en-US" altLang="zh-CN" sz="1600" b="1" dirty="0">
              <a:solidFill>
                <a:srgbClr val="E33737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126927" y="3679876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不固定组织，后续若需新增或变更指标，需临时组建同样的共创审议。</a:t>
            </a:r>
            <a:endParaRPr lang="en-US" sz="1300" dirty="0"/>
          </a:p>
        </p:txBody>
      </p:sp>
      <p:sp>
        <p:nvSpPr>
          <p:cNvPr id="14" name="Text 6"/>
          <p:cNvSpPr/>
          <p:nvPr/>
        </p:nvSpPr>
        <p:spPr>
          <a:xfrm>
            <a:off x="1126927" y="4101357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旨在防止指标在执行过程中继续无序增长。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落地方式：指标规范硬要求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提交门槛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每个指标必须讲清楚：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69790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结果指标 / 信号指标 / 约束指标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设计理念（Why/How/What 的完整表达）是什么？</a:t>
            </a:r>
            <a:endParaRPr lang="en-US" sz="1300" dirty="0"/>
          </a:p>
          <a:p>
            <a:pPr marL="127000" indent="-1270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整体指标结构想解决什么问题？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3900488"/>
            <a:ext cx="8001000" cy="638175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409098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只有在共创会上通过的指标，才进入年度正式考核体系。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配套举措：指标分类与权责规范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9F9"/>
          </a:solidFill>
          <a:ln w="9525">
            <a:solidFill>
              <a:srgbClr val="FFE5E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结果型指标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152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“我们要什么结果”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152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收入、利润、合同额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1525" y="2325439"/>
            <a:ext cx="2165300" cy="0"/>
          </a:xfrm>
          <a:prstGeom prst="line">
            <a:avLst/>
          </a:prstGeom>
          <a:noFill/>
          <a:ln w="9525">
            <a:solidFill>
              <a:srgbClr val="FFCAC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152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总部定目标，城市核心考核，评价经营成效。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8925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CF5"/>
          </a:solidFill>
          <a:ln w="9525">
            <a:solidFill>
              <a:srgbClr val="FEF2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27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信号型指标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8927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“哪些事有助于结果”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927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过程指标、诊断信号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9275" y="2325439"/>
            <a:ext cx="216530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48927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不作为强制考核；总部做能力萃取，辅助一线反思。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07001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7026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约束型指标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7026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“哪些事绝对不准越界”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7026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安全、客诉、合规性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7026" y="2325439"/>
            <a:ext cx="21653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07026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只判断是否越线，不做排名；守住经营红线。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3508325"/>
            <a:ext cx="8001000" cy="1157883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0469" y="3762226"/>
            <a:ext cx="764306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总部有“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目标定义权 + 约束设定权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  <a:p>
            <a:pPr marL="0" indent="0" algn="ctr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一线有“</a:t>
            </a:r>
            <a:endParaRPr lang="en-US" sz="1600" dirty="0"/>
          </a:p>
          <a:p>
            <a:pPr marL="0" indent="0" algn="ctr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实现路径选择权 + 诊断解释权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配套举措：城市实践与 COE 协同进化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03837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7150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95313" y="1031825"/>
            <a:ext cx="0" cy="996702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4607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核心定义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07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来自城市实践的</a:t>
            </a: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后验总结</a:t>
            </a: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，而非总部先验设计。总部关注结果与红线，接受路径差异。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555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555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567886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63555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659362" y="1031825"/>
            <a:ext cx="0" cy="996702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1012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防反噬 3 条边界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012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信号指标 ≠ KPI；② 总部信号 ≠ 强制使用；③ COE 只能沉淀不能反压。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2219027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终极逻辑闭环：进化型管理系统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" y="2584103"/>
            <a:ext cx="8001000" cy="622102"/>
          </a:xfrm>
          <a:prstGeom prst="roundRect">
            <a:avLst>
              <a:gd name="adj" fmla="val 8166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207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定结果/红线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41440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自选路径/信号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2672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多路径跑结果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3905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萃取有效 COE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15138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可选工具反哺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06371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自由组合进化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490" y="3396704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真正有价值的方法论，是</a:t>
            </a: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出来的，而不是</a:t>
            </a: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配套举措：AI 管理提效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68276"/>
            <a:ext cx="8128099" cy="82912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968276"/>
            <a:ext cx="0" cy="829121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38051" y="1095226"/>
            <a:ext cx="78244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定位：不是“替人决策”，而是“降低判断成本”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51" y="1501527"/>
            <a:ext cx="782446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唯一角色：</a:t>
            </a: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认知放大器 + 学习加速器</a:t>
            </a: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。负责把复杂信息变成可判断的资产，判断权归人。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40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548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9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信号整理员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9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数据海量、多维信号看不过来、一线解释成本极高。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89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识别“异常模式”而非单指标，提供历史对比与结构分析。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89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输出：“类似异常历史上曾发生 6 次”，不给对错结论。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27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188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696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337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路径镜子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37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难以判断路径有效性，横向学习难，动作回溯模糊。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37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基于“动作-结果”做回放标记，识别核心贡献与无效忙碌。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37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定位：这是反思工具（Self-Reflection），非考核工具。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40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548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9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抽练机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9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城市路径不一，隐性成功经验难以被科学抽象和复用。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9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输入结果与声明路径，抽练“共同特征”与适用条件。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9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价值：输出“在什么条件下，哪些路径较有效”，形成 COE。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27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188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696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37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判断记录仪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37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决策碎片化、事后难复盘，管理者判断力无法资产化。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37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记录当下的信号环境与决策选择。下次情境类似时自动唤醒。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37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价值：在潜移默化中“训练管理者”，而非替代其判断。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950" y="4217045"/>
            <a:ext cx="8128099" cy="314325"/>
          </a:xfrm>
          <a:prstGeom prst="roundRect">
            <a:avLst>
              <a:gd name="adj" fmla="val 16162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4393" y="4293245"/>
            <a:ext cx="8135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底线判断：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凡是让 AI 告诉人“该干什么”的都在削弱组织；凡是帮人“更好判断”的才是增强组织。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23694" y="1569541"/>
            <a:ext cx="48966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指标减负的实质，不是优化指标，而是优化结构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2681" y="2283916"/>
            <a:ext cx="5958638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</a:t>
            </a: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服务 </a:t>
            </a: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</a:t>
            </a:r>
            <a:endParaRPr lang="en-US" sz="4600" dirty="0"/>
          </a:p>
          <a:p>
            <a:pPr marL="0" indent="0" algn="ctr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而不是让业务服务指标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459</Words>
  <Application>Microsoft Office PowerPoint</Application>
  <PresentationFormat>全屏显示(16:9)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Peach</cp:lastModifiedBy>
  <cp:revision>2</cp:revision>
  <dcterms:created xsi:type="dcterms:W3CDTF">2026-01-21T19:02:32Z</dcterms:created>
  <dcterms:modified xsi:type="dcterms:W3CDTF">2026-01-21T19:09:29Z</dcterms:modified>
</cp:coreProperties>
</file>